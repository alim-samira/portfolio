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déplacer la diapo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modifier le 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des 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6394C58-1957-4787-A482-0A523DD73131}" type="slidenum"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B20468-AA39-4E9D-898F-AD1B5BFD957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EAC3F9-854C-4316-B9D2-FBBBB968601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93CEEE-425B-4FB9-8CAD-0D363F2A7C5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D263EC-0FAB-459B-810B-18363EBE63C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7C69AD-130D-477A-8061-EF3C1642200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06C0AC-5D4F-4B7E-AB32-39A95116A44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BE80DC-3372-44E8-ABB1-7E67400C5A2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74D858-3760-42E8-929C-8A05BFC4AE0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z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é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x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a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48640" y="502920"/>
            <a:ext cx="639720" cy="639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48640" y="5029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1280160" y="457200"/>
            <a:ext cx="4571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3600" spc="201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AAAS CRM</a:t>
            </a:r>
            <a:endParaRPr b="0" lang="fr-F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1280160" y="109728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Système de Gestion de la Relation Client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1280160" y="1600200"/>
            <a:ext cx="1416960" cy="292320"/>
          </a:xfrm>
          <a:prstGeom prst="rect">
            <a:avLst/>
          </a:prstGeom>
          <a:solidFill>
            <a:srgbClr val="131a2e"/>
          </a:solidFill>
          <a:ln w="1524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1280160" y="1600200"/>
            <a:ext cx="1416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6366f1"/>
                </a:solidFill>
                <a:effectLst/>
                <a:uFillTx/>
                <a:latin typeface="Calibri"/>
              </a:rPr>
              <a:t>Next.js 14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2834640" y="1600200"/>
            <a:ext cx="1416960" cy="292320"/>
          </a:xfrm>
          <a:prstGeom prst="rect">
            <a:avLst/>
          </a:prstGeom>
          <a:solidFill>
            <a:srgbClr val="131a2e"/>
          </a:solidFill>
          <a:ln w="1524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2834640" y="1600200"/>
            <a:ext cx="1416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d9488"/>
                </a:solidFill>
                <a:effectLst/>
                <a:uFillTx/>
                <a:latin typeface="Calibri"/>
              </a:rPr>
              <a:t>Supabase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4389120" y="1600200"/>
            <a:ext cx="1416960" cy="292320"/>
          </a:xfrm>
          <a:prstGeom prst="rect">
            <a:avLst/>
          </a:prstGeom>
          <a:solidFill>
            <a:srgbClr val="131a2e"/>
          </a:solidFill>
          <a:ln w="1524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4389120" y="1600200"/>
            <a:ext cx="1416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59e0b"/>
                </a:solidFill>
                <a:effectLst/>
                <a:uFillTx/>
                <a:latin typeface="Calibri"/>
              </a:rPr>
              <a:t>Brevo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5943600" y="1600200"/>
            <a:ext cx="1416960" cy="292320"/>
          </a:xfrm>
          <a:prstGeom prst="rect">
            <a:avLst/>
          </a:prstGeom>
          <a:solidFill>
            <a:srgbClr val="131a2e"/>
          </a:solidFill>
          <a:ln w="1524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5943600" y="1600200"/>
            <a:ext cx="1416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8b5cf6"/>
                </a:solidFill>
                <a:effectLst/>
                <a:uFillTx/>
                <a:latin typeface="Calibri"/>
              </a:rPr>
              <a:t>Vercel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457200" y="2377440"/>
            <a:ext cx="1828440" cy="914040"/>
          </a:xfrm>
          <a:prstGeom prst="rect">
            <a:avLst/>
          </a:prstGeom>
          <a:solidFill>
            <a:srgbClr val="111827"/>
          </a:solidFill>
          <a:ln w="1016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457200" y="245052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6366f1"/>
                </a:solidFill>
                <a:effectLst/>
                <a:uFillTx/>
                <a:latin typeface="Calibri"/>
              </a:rPr>
              <a:t>7+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457200" y="29260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Modules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2560320" y="2377440"/>
            <a:ext cx="1828440" cy="914040"/>
          </a:xfrm>
          <a:prstGeom prst="rect">
            <a:avLst/>
          </a:prstGeom>
          <a:solidFill>
            <a:srgbClr val="111827"/>
          </a:solidFill>
          <a:ln w="1016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2560320" y="245052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6366f1"/>
                </a:solidFill>
                <a:effectLst/>
                <a:uFillTx/>
                <a:latin typeface="Calibri"/>
              </a:rPr>
              <a:t>4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2560320" y="29260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Rôles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4663440" y="2377440"/>
            <a:ext cx="1828440" cy="914040"/>
          </a:xfrm>
          <a:prstGeom prst="rect">
            <a:avLst/>
          </a:prstGeom>
          <a:solidFill>
            <a:srgbClr val="111827"/>
          </a:solidFill>
          <a:ln w="1016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4663440" y="245052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6366f1"/>
                </a:solidFill>
                <a:effectLst/>
                <a:uFillTx/>
                <a:latin typeface="Calibri"/>
              </a:rPr>
              <a:t>100%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4663440" y="29260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SaaS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6766560" y="2377440"/>
            <a:ext cx="1828440" cy="914040"/>
          </a:xfrm>
          <a:prstGeom prst="rect">
            <a:avLst/>
          </a:prstGeom>
          <a:solidFill>
            <a:srgbClr val="111827"/>
          </a:solidFill>
          <a:ln w="1016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6766560" y="245052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6366f1"/>
                </a:solidFill>
                <a:effectLst/>
                <a:uFillTx/>
                <a:latin typeface="Calibri"/>
              </a:rPr>
              <a:t>CI/CD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6766560" y="29260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Vercel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457200" y="457200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Alim Samira  ·  Communication Digitale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a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"/>
          <p:cNvSpPr/>
          <p:nvPr/>
        </p:nvSpPr>
        <p:spPr>
          <a:xfrm>
            <a:off x="457200" y="22860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CONTEXTE &amp; STACK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"/>
          <p:cNvSpPr/>
          <p:nvPr/>
        </p:nvSpPr>
        <p:spPr>
          <a:xfrm>
            <a:off x="6858000" y="274320"/>
            <a:ext cx="1462680" cy="255600"/>
          </a:xfrm>
          <a:prstGeom prst="rect">
            <a:avLst/>
          </a:prstGeom>
          <a:solidFill>
            <a:srgbClr val="6366f1"/>
          </a:solidFill>
          <a:ln w="635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3"/>
          <p:cNvSpPr/>
          <p:nvPr/>
        </p:nvSpPr>
        <p:spPr>
          <a:xfrm>
            <a:off x="6858000" y="292680"/>
            <a:ext cx="1462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201" strike="noStrike" u="none">
                <a:solidFill>
                  <a:srgbClr val="6366f1"/>
                </a:solidFill>
                <a:effectLst/>
                <a:uFillTx/>
                <a:latin typeface="Calibri"/>
              </a:rPr>
              <a:t>01 + 02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4"/>
          <p:cNvSpPr/>
          <p:nvPr/>
        </p:nvSpPr>
        <p:spPr>
          <a:xfrm>
            <a:off x="365760" y="822960"/>
            <a:ext cx="3840120" cy="3931560"/>
          </a:xfrm>
          <a:prstGeom prst="rect">
            <a:avLst/>
          </a:prstGeom>
          <a:solidFill>
            <a:srgbClr val="111827"/>
          </a:solidFill>
          <a:ln w="1016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5"/>
          <p:cNvSpPr/>
          <p:nvPr/>
        </p:nvSpPr>
        <p:spPr>
          <a:xfrm>
            <a:off x="548640" y="91440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Pourquoi ce CRM ?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6"/>
          <p:cNvSpPr/>
          <p:nvPr/>
        </p:nvSpPr>
        <p:spPr>
          <a:xfrm>
            <a:off x="548640" y="132588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  Avant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7"/>
          <p:cNvSpPr/>
          <p:nvPr/>
        </p:nvSpPr>
        <p:spPr>
          <a:xfrm>
            <a:off x="548640" y="1554480"/>
            <a:ext cx="1691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8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Contacts éparpillés dans Excel</a:t>
            </a:r>
            <a:endParaRPr b="0" lang="fr-F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8"/>
          <p:cNvSpPr/>
          <p:nvPr/>
        </p:nvSpPr>
        <p:spPr>
          <a:xfrm>
            <a:off x="548640" y="1883520"/>
            <a:ext cx="1691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8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Aucun suivi du pipeline</a:t>
            </a:r>
            <a:endParaRPr b="0" lang="fr-F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9"/>
          <p:cNvSpPr/>
          <p:nvPr/>
        </p:nvSpPr>
        <p:spPr>
          <a:xfrm>
            <a:off x="548640" y="2212920"/>
            <a:ext cx="1691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8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Zéro automatisation email</a:t>
            </a:r>
            <a:endParaRPr b="0" lang="fr-F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0"/>
          <p:cNvSpPr/>
          <p:nvPr/>
        </p:nvSpPr>
        <p:spPr>
          <a:xfrm>
            <a:off x="548640" y="2541960"/>
            <a:ext cx="1691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8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Pas de dashboard KPIs</a:t>
            </a:r>
            <a:endParaRPr b="0" lang="fr-F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1"/>
          <p:cNvSpPr/>
          <p:nvPr/>
        </p:nvSpPr>
        <p:spPr>
          <a:xfrm>
            <a:off x="2331720" y="1325880"/>
            <a:ext cx="1691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  Après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2"/>
          <p:cNvSpPr/>
          <p:nvPr/>
        </p:nvSpPr>
        <p:spPr>
          <a:xfrm>
            <a:off x="2331720" y="1554480"/>
            <a:ext cx="173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8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Pipeline kanban 6 étapes</a:t>
            </a:r>
            <a:endParaRPr b="0" lang="fr-F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3"/>
          <p:cNvSpPr/>
          <p:nvPr/>
        </p:nvSpPr>
        <p:spPr>
          <a:xfrm>
            <a:off x="2331720" y="1883520"/>
            <a:ext cx="173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8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Contacts &amp; entreprises centralisés</a:t>
            </a:r>
            <a:endParaRPr b="0" lang="fr-F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4"/>
          <p:cNvSpPr/>
          <p:nvPr/>
        </p:nvSpPr>
        <p:spPr>
          <a:xfrm>
            <a:off x="2331720" y="2212920"/>
            <a:ext cx="173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8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Emails auto via Brevo</a:t>
            </a:r>
            <a:endParaRPr b="0" lang="fr-F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5"/>
          <p:cNvSpPr/>
          <p:nvPr/>
        </p:nvSpPr>
        <p:spPr>
          <a:xfrm>
            <a:off x="2331720" y="2541960"/>
            <a:ext cx="173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8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Dashboard Recharts temps réel</a:t>
            </a:r>
            <a:endParaRPr b="0" lang="fr-F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6"/>
          <p:cNvSpPr/>
          <p:nvPr/>
        </p:nvSpPr>
        <p:spPr>
          <a:xfrm>
            <a:off x="4389120" y="822960"/>
            <a:ext cx="4388760" cy="3931560"/>
          </a:xfrm>
          <a:prstGeom prst="rect">
            <a:avLst/>
          </a:prstGeom>
          <a:solidFill>
            <a:srgbClr val="111827"/>
          </a:solidFill>
          <a:ln w="1016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7"/>
          <p:cNvSpPr/>
          <p:nvPr/>
        </p:nvSpPr>
        <p:spPr>
          <a:xfrm>
            <a:off x="4572000" y="91440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Stack 100% SaaS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8"/>
          <p:cNvSpPr/>
          <p:nvPr/>
        </p:nvSpPr>
        <p:spPr>
          <a:xfrm>
            <a:off x="4572000" y="1353240"/>
            <a:ext cx="292320" cy="292320"/>
          </a:xfrm>
          <a:prstGeom prst="rect">
            <a:avLst/>
          </a:prstGeom>
          <a:solidFill>
            <a:srgbClr val="6366f1"/>
          </a:solidFill>
          <a:ln w="1016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9"/>
          <p:cNvSpPr/>
          <p:nvPr/>
        </p:nvSpPr>
        <p:spPr>
          <a:xfrm>
            <a:off x="4974480" y="1353240"/>
            <a:ext cx="3474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Next.js 14</a:t>
            </a:r>
            <a:endParaRPr b="0" lang="fr-F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0"/>
          <p:cNvSpPr/>
          <p:nvPr/>
        </p:nvSpPr>
        <p:spPr>
          <a:xfrm>
            <a:off x="4974480" y="1536120"/>
            <a:ext cx="3474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Frontend · App Router · TypeScript</a:t>
            </a:r>
            <a:endParaRPr b="0" lang="fr-F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1"/>
          <p:cNvSpPr/>
          <p:nvPr/>
        </p:nvSpPr>
        <p:spPr>
          <a:xfrm>
            <a:off x="4572000" y="1974960"/>
            <a:ext cx="292320" cy="292320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2"/>
          <p:cNvSpPr/>
          <p:nvPr/>
        </p:nvSpPr>
        <p:spPr>
          <a:xfrm>
            <a:off x="4974480" y="1974960"/>
            <a:ext cx="3474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Supabase</a:t>
            </a:r>
            <a:endParaRPr b="0" lang="fr-F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3"/>
          <p:cNvSpPr/>
          <p:nvPr/>
        </p:nvSpPr>
        <p:spPr>
          <a:xfrm>
            <a:off x="4974480" y="2157840"/>
            <a:ext cx="3474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PostgreSQL · Auth · RLS · Zéro config</a:t>
            </a:r>
            <a:endParaRPr b="0" lang="fr-F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4"/>
          <p:cNvSpPr/>
          <p:nvPr/>
        </p:nvSpPr>
        <p:spPr>
          <a:xfrm>
            <a:off x="4572000" y="2597040"/>
            <a:ext cx="292320" cy="292320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5"/>
          <p:cNvSpPr/>
          <p:nvPr/>
        </p:nvSpPr>
        <p:spPr>
          <a:xfrm>
            <a:off x="4974480" y="2597040"/>
            <a:ext cx="3474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Brevo</a:t>
            </a:r>
            <a:endParaRPr b="0" lang="fr-F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6"/>
          <p:cNvSpPr/>
          <p:nvPr/>
        </p:nvSpPr>
        <p:spPr>
          <a:xfrm>
            <a:off x="4974480" y="2779920"/>
            <a:ext cx="3474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Email automation · Templates · Tracking</a:t>
            </a:r>
            <a:endParaRPr b="0" lang="fr-F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7"/>
          <p:cNvSpPr/>
          <p:nvPr/>
        </p:nvSpPr>
        <p:spPr>
          <a:xfrm>
            <a:off x="4572000" y="3218760"/>
            <a:ext cx="292320" cy="292320"/>
          </a:xfrm>
          <a:prstGeom prst="rect">
            <a:avLst/>
          </a:prstGeom>
          <a:solidFill>
            <a:srgbClr val="8b5cf6"/>
          </a:solidFill>
          <a:ln w="1016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8"/>
          <p:cNvSpPr/>
          <p:nvPr/>
        </p:nvSpPr>
        <p:spPr>
          <a:xfrm>
            <a:off x="4974480" y="3218760"/>
            <a:ext cx="3474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Vercel</a:t>
            </a:r>
            <a:endParaRPr b="0" lang="fr-F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9"/>
          <p:cNvSpPr/>
          <p:nvPr/>
        </p:nvSpPr>
        <p:spPr>
          <a:xfrm>
            <a:off x="4974480" y="3401640"/>
            <a:ext cx="3474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Hébergement · CI/CD · Auto-deploy</a:t>
            </a:r>
            <a:endParaRPr b="0" lang="fr-F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30"/>
          <p:cNvSpPr/>
          <p:nvPr/>
        </p:nvSpPr>
        <p:spPr>
          <a:xfrm>
            <a:off x="4572000" y="3840480"/>
            <a:ext cx="292320" cy="29232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1"/>
          <p:cNvSpPr/>
          <p:nvPr/>
        </p:nvSpPr>
        <p:spPr>
          <a:xfrm>
            <a:off x="4974480" y="3840480"/>
            <a:ext cx="3474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GitHub</a:t>
            </a:r>
            <a:endParaRPr b="0" lang="fr-F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2"/>
          <p:cNvSpPr/>
          <p:nvPr/>
        </p:nvSpPr>
        <p:spPr>
          <a:xfrm>
            <a:off x="4974480" y="4023360"/>
            <a:ext cx="3474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Versioning · Branches · Pull Requests</a:t>
            </a:r>
            <a:endParaRPr b="0" lang="fr-F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3"/>
          <p:cNvSpPr/>
          <p:nvPr/>
        </p:nvSpPr>
        <p:spPr>
          <a:xfrm>
            <a:off x="365760" y="475488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59e0b"/>
                </a:solidFill>
                <a:effectLst/>
                <a:uFillTx/>
                <a:latin typeface="Calibri"/>
              </a:rPr>
              <a:t>💡 Avantage SaaS : Zéro serveur · Deploy automatique · Scalabilité immédiate</a:t>
            </a:r>
            <a:endParaRPr b="0" lang="fr-F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a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457200" y="22860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ARCHITECTURE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"/>
          <p:cNvSpPr/>
          <p:nvPr/>
        </p:nvSpPr>
        <p:spPr>
          <a:xfrm>
            <a:off x="6858000" y="274320"/>
            <a:ext cx="1462680" cy="255600"/>
          </a:xfrm>
          <a:prstGeom prst="rect">
            <a:avLst/>
          </a:prstGeom>
          <a:solidFill>
            <a:srgbClr val="0d9488"/>
          </a:solidFill>
          <a:ln w="635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"/>
          <p:cNvSpPr/>
          <p:nvPr/>
        </p:nvSpPr>
        <p:spPr>
          <a:xfrm>
            <a:off x="6858000" y="292680"/>
            <a:ext cx="1462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201" strike="noStrike" u="none">
                <a:solidFill>
                  <a:srgbClr val="0d9488"/>
                </a:solidFill>
                <a:effectLst/>
                <a:uFillTx/>
                <a:latin typeface="Calibri"/>
              </a:rPr>
              <a:t>03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4"/>
          <p:cNvSpPr/>
          <p:nvPr/>
        </p:nvSpPr>
        <p:spPr>
          <a:xfrm>
            <a:off x="365760" y="1005840"/>
            <a:ext cx="1919880" cy="1005480"/>
          </a:xfrm>
          <a:prstGeom prst="rect">
            <a:avLst/>
          </a:prstGeom>
          <a:solidFill>
            <a:srgbClr val="111827"/>
          </a:solidFill>
          <a:ln w="1016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5"/>
          <p:cNvSpPr/>
          <p:nvPr/>
        </p:nvSpPr>
        <p:spPr>
          <a:xfrm>
            <a:off x="365760" y="114300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6366f1"/>
                </a:solidFill>
                <a:effectLst/>
                <a:uFillTx/>
                <a:latin typeface="Calibri"/>
              </a:rPr>
              <a:t>NAVIGATEUR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6"/>
          <p:cNvSpPr/>
          <p:nvPr/>
        </p:nvSpPr>
        <p:spPr>
          <a:xfrm>
            <a:off x="365760" y="148140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React / Next.js</a:t>
            </a:r>
            <a:endParaRPr b="0" lang="fr-F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7"/>
          <p:cNvSpPr/>
          <p:nvPr/>
        </p:nvSpPr>
        <p:spPr>
          <a:xfrm>
            <a:off x="2560320" y="1005840"/>
            <a:ext cx="1919880" cy="1005480"/>
          </a:xfrm>
          <a:prstGeom prst="rect">
            <a:avLst/>
          </a:prstGeom>
          <a:solidFill>
            <a:srgbClr val="111827"/>
          </a:solidFill>
          <a:ln w="1016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8"/>
          <p:cNvSpPr/>
          <p:nvPr/>
        </p:nvSpPr>
        <p:spPr>
          <a:xfrm>
            <a:off x="2560320" y="114300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8b5cf6"/>
                </a:solidFill>
                <a:effectLst/>
                <a:uFillTx/>
                <a:latin typeface="Calibri"/>
              </a:rPr>
              <a:t>VERCEL EDGE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9"/>
          <p:cNvSpPr/>
          <p:nvPr/>
        </p:nvSpPr>
        <p:spPr>
          <a:xfrm>
            <a:off x="2560320" y="148140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CDN / SSR / API</a:t>
            </a:r>
            <a:endParaRPr b="0" lang="fr-F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0"/>
          <p:cNvSpPr/>
          <p:nvPr/>
        </p:nvSpPr>
        <p:spPr>
          <a:xfrm>
            <a:off x="4754880" y="1005840"/>
            <a:ext cx="1919880" cy="1005480"/>
          </a:xfrm>
          <a:prstGeom prst="rect">
            <a:avLst/>
          </a:prstGeom>
          <a:solidFill>
            <a:srgbClr val="111827"/>
          </a:solidFill>
          <a:ln w="1016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1"/>
          <p:cNvSpPr/>
          <p:nvPr/>
        </p:nvSpPr>
        <p:spPr>
          <a:xfrm>
            <a:off x="4754880" y="114300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d9488"/>
                </a:solidFill>
                <a:effectLst/>
                <a:uFillTx/>
                <a:latin typeface="Calibri"/>
              </a:rPr>
              <a:t>SUPABASE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2"/>
          <p:cNvSpPr/>
          <p:nvPr/>
        </p:nvSpPr>
        <p:spPr>
          <a:xfrm>
            <a:off x="4754880" y="148140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PostgreSQL + Auth</a:t>
            </a:r>
            <a:endParaRPr b="0" lang="fr-F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3"/>
          <p:cNvSpPr/>
          <p:nvPr/>
        </p:nvSpPr>
        <p:spPr>
          <a:xfrm>
            <a:off x="6949440" y="1005840"/>
            <a:ext cx="1919880" cy="1005480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4"/>
          <p:cNvSpPr/>
          <p:nvPr/>
        </p:nvSpPr>
        <p:spPr>
          <a:xfrm>
            <a:off x="6949440" y="114300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59e0b"/>
                </a:solidFill>
                <a:effectLst/>
                <a:uFillTx/>
                <a:latin typeface="Calibri"/>
              </a:rPr>
              <a:t>BREVO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5"/>
          <p:cNvSpPr/>
          <p:nvPr/>
        </p:nvSpPr>
        <p:spPr>
          <a:xfrm>
            <a:off x="6949440" y="148140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Email Automation</a:t>
            </a:r>
            <a:endParaRPr b="0" lang="fr-F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6"/>
          <p:cNvSpPr/>
          <p:nvPr/>
        </p:nvSpPr>
        <p:spPr>
          <a:xfrm>
            <a:off x="2286000" y="1581840"/>
            <a:ext cx="255600" cy="72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7"/>
          <p:cNvSpPr/>
          <p:nvPr/>
        </p:nvSpPr>
        <p:spPr>
          <a:xfrm>
            <a:off x="2286000" y="1417320"/>
            <a:ext cx="255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→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8"/>
          <p:cNvSpPr/>
          <p:nvPr/>
        </p:nvSpPr>
        <p:spPr>
          <a:xfrm>
            <a:off x="4480560" y="1581840"/>
            <a:ext cx="255600" cy="72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9"/>
          <p:cNvSpPr/>
          <p:nvPr/>
        </p:nvSpPr>
        <p:spPr>
          <a:xfrm>
            <a:off x="4480560" y="1417320"/>
            <a:ext cx="255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→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20"/>
          <p:cNvSpPr/>
          <p:nvPr/>
        </p:nvSpPr>
        <p:spPr>
          <a:xfrm>
            <a:off x="6675120" y="1581840"/>
            <a:ext cx="255600" cy="72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1"/>
          <p:cNvSpPr/>
          <p:nvPr/>
        </p:nvSpPr>
        <p:spPr>
          <a:xfrm>
            <a:off x="6675120" y="1417320"/>
            <a:ext cx="255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→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2"/>
          <p:cNvSpPr/>
          <p:nvPr/>
        </p:nvSpPr>
        <p:spPr>
          <a:xfrm>
            <a:off x="365760" y="2286000"/>
            <a:ext cx="8412120" cy="383760"/>
          </a:xfrm>
          <a:prstGeom prst="rect">
            <a:avLst/>
          </a:prstGeom>
          <a:solidFill>
            <a:srgbClr val="6366f1"/>
          </a:solidFill>
          <a:ln w="1016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3"/>
          <p:cNvSpPr/>
          <p:nvPr/>
        </p:nvSpPr>
        <p:spPr>
          <a:xfrm>
            <a:off x="457200" y="230436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c1c1c"/>
                </a:solidFill>
                <a:effectLst/>
                <a:uFillTx/>
                <a:latin typeface="Calibri"/>
              </a:rPr>
              <a:t>  Row Level Security : chaque utilisateur ne voit que ses propres données  ·  Auth JWT via Supabase</a:t>
            </a:r>
            <a:endParaRPr b="1" lang="fr-FR" sz="900" strike="noStrike" u="none">
              <a:solidFill>
                <a:srgbClr val="1c1c1c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4"/>
          <p:cNvSpPr/>
          <p:nvPr/>
        </p:nvSpPr>
        <p:spPr>
          <a:xfrm>
            <a:off x="457200" y="28346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Structure du projet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5"/>
          <p:cNvSpPr/>
          <p:nvPr/>
        </p:nvSpPr>
        <p:spPr>
          <a:xfrm>
            <a:off x="548640" y="3154680"/>
            <a:ext cx="8046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6366f1"/>
                </a:solidFill>
                <a:effectLst/>
                <a:uFillTx/>
                <a:latin typeface="Calibri"/>
              </a:rPr>
              <a:t>app/</a:t>
            </a: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 dashboard · pipeline · contacts · companies · tasks · settings · auth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6"/>
          <p:cNvSpPr/>
          <p:nvPr/>
        </p:nvSpPr>
        <p:spPr>
          <a:xfrm>
            <a:off x="548640" y="3520440"/>
            <a:ext cx="8046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6366f1"/>
                </a:solidFill>
                <a:effectLst/>
                <a:uFillTx/>
                <a:latin typeface="Calibri"/>
              </a:rPr>
              <a:t>components/</a:t>
            </a: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 Sidebar · LoadingScreen · GlassCard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7"/>
          <p:cNvSpPr/>
          <p:nvPr/>
        </p:nvSpPr>
        <p:spPr>
          <a:xfrm>
            <a:off x="548640" y="3886200"/>
            <a:ext cx="8046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6366f1"/>
                </a:solidFill>
                <a:effectLst/>
                <a:uFillTx/>
                <a:latin typeface="Calibri"/>
              </a:rPr>
              <a:t>lib/</a:t>
            </a: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 supabase.ts · brevo.ts · utils.ts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8"/>
          <p:cNvSpPr/>
          <p:nvPr/>
        </p:nvSpPr>
        <p:spPr>
          <a:xfrm>
            <a:off x="548640" y="4251960"/>
            <a:ext cx="8046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6366f1"/>
                </a:solidFill>
                <a:effectLst/>
                <a:uFillTx/>
                <a:latin typeface="Calibri"/>
              </a:rPr>
              <a:t>types/</a:t>
            </a: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 index.ts  (Profile, Lead, Contact, AppRole…)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9"/>
          <p:cNvSpPr/>
          <p:nvPr/>
        </p:nvSpPr>
        <p:spPr>
          <a:xfrm>
            <a:off x="548640" y="4617720"/>
            <a:ext cx="8046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6366f1"/>
                </a:solidFill>
                <a:effectLst/>
                <a:uFillTx/>
                <a:latin typeface="Calibri"/>
              </a:rPr>
              <a:t>supabase/</a:t>
            </a: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 schema.sql · patch_FINAL.sql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a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"/>
          <p:cNvSpPr/>
          <p:nvPr/>
        </p:nvSpPr>
        <p:spPr>
          <a:xfrm>
            <a:off x="457200" y="228600"/>
            <a:ext cx="6400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7 MODULES FONCTIONNELS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"/>
          <p:cNvSpPr/>
          <p:nvPr/>
        </p:nvSpPr>
        <p:spPr>
          <a:xfrm>
            <a:off x="6858000" y="274320"/>
            <a:ext cx="1462680" cy="255600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"/>
          <p:cNvSpPr/>
          <p:nvPr/>
        </p:nvSpPr>
        <p:spPr>
          <a:xfrm>
            <a:off x="6858000" y="292680"/>
            <a:ext cx="1462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201" strike="noStrike" u="none">
                <a:solidFill>
                  <a:srgbClr val="f59e0b"/>
                </a:solidFill>
                <a:effectLst/>
                <a:uFillTx/>
                <a:latin typeface="Calibri"/>
              </a:rPr>
              <a:t>04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4"/>
          <p:cNvSpPr/>
          <p:nvPr/>
        </p:nvSpPr>
        <p:spPr>
          <a:xfrm>
            <a:off x="365760" y="868680"/>
            <a:ext cx="4114440" cy="868320"/>
          </a:xfrm>
          <a:prstGeom prst="rect">
            <a:avLst/>
          </a:prstGeom>
          <a:solidFill>
            <a:srgbClr val="111827"/>
          </a:solidFill>
          <a:ln w="1016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5"/>
          <p:cNvSpPr/>
          <p:nvPr/>
        </p:nvSpPr>
        <p:spPr>
          <a:xfrm>
            <a:off x="475560" y="1033200"/>
            <a:ext cx="529920" cy="529920"/>
          </a:xfrm>
          <a:prstGeom prst="rect">
            <a:avLst/>
          </a:prstGeom>
          <a:solidFill>
            <a:srgbClr val="8b5cf6"/>
          </a:solidFill>
          <a:ln w="635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6"/>
          <p:cNvSpPr/>
          <p:nvPr/>
        </p:nvSpPr>
        <p:spPr>
          <a:xfrm>
            <a:off x="475560" y="1033200"/>
            <a:ext cx="5299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🔐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7"/>
          <p:cNvSpPr/>
          <p:nvPr/>
        </p:nvSpPr>
        <p:spPr>
          <a:xfrm>
            <a:off x="1115640" y="96012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Authentification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8"/>
          <p:cNvSpPr/>
          <p:nvPr/>
        </p:nvSpPr>
        <p:spPr>
          <a:xfrm>
            <a:off x="1115640" y="130752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Login · Signup · JWT · 4 rôles</a:t>
            </a:r>
            <a:endParaRPr b="0" lang="fr-F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9"/>
          <p:cNvSpPr/>
          <p:nvPr/>
        </p:nvSpPr>
        <p:spPr>
          <a:xfrm>
            <a:off x="365760" y="1874520"/>
            <a:ext cx="4114440" cy="868320"/>
          </a:xfrm>
          <a:prstGeom prst="rect">
            <a:avLst/>
          </a:prstGeom>
          <a:solidFill>
            <a:srgbClr val="111827"/>
          </a:solidFill>
          <a:ln w="1016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0"/>
          <p:cNvSpPr/>
          <p:nvPr/>
        </p:nvSpPr>
        <p:spPr>
          <a:xfrm>
            <a:off x="475560" y="2039040"/>
            <a:ext cx="529920" cy="529920"/>
          </a:xfrm>
          <a:prstGeom prst="rect">
            <a:avLst/>
          </a:prstGeom>
          <a:solidFill>
            <a:srgbClr val="6366f1"/>
          </a:solidFill>
          <a:ln w="635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1"/>
          <p:cNvSpPr/>
          <p:nvPr/>
        </p:nvSpPr>
        <p:spPr>
          <a:xfrm>
            <a:off x="475560" y="2039040"/>
            <a:ext cx="5299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🎯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2"/>
          <p:cNvSpPr/>
          <p:nvPr/>
        </p:nvSpPr>
        <p:spPr>
          <a:xfrm>
            <a:off x="1115640" y="196596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Pipeline Kanban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3"/>
          <p:cNvSpPr/>
          <p:nvPr/>
        </p:nvSpPr>
        <p:spPr>
          <a:xfrm>
            <a:off x="1115640" y="231336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6 étapes · Drag-and-drop · Valeur</a:t>
            </a:r>
            <a:endParaRPr b="0" lang="fr-F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4"/>
          <p:cNvSpPr/>
          <p:nvPr/>
        </p:nvSpPr>
        <p:spPr>
          <a:xfrm>
            <a:off x="365760" y="2880360"/>
            <a:ext cx="4114440" cy="868320"/>
          </a:xfrm>
          <a:prstGeom prst="rect">
            <a:avLst/>
          </a:prstGeom>
          <a:solidFill>
            <a:srgbClr val="111827"/>
          </a:solidFill>
          <a:ln w="1016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5"/>
          <p:cNvSpPr/>
          <p:nvPr/>
        </p:nvSpPr>
        <p:spPr>
          <a:xfrm>
            <a:off x="475560" y="3044880"/>
            <a:ext cx="529920" cy="529920"/>
          </a:xfrm>
          <a:prstGeom prst="rect">
            <a:avLst/>
          </a:prstGeom>
          <a:solidFill>
            <a:srgbClr val="0d9488"/>
          </a:solidFill>
          <a:ln w="635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6"/>
          <p:cNvSpPr/>
          <p:nvPr/>
        </p:nvSpPr>
        <p:spPr>
          <a:xfrm>
            <a:off x="475560" y="3044880"/>
            <a:ext cx="5299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👤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7"/>
          <p:cNvSpPr/>
          <p:nvPr/>
        </p:nvSpPr>
        <p:spPr>
          <a:xfrm>
            <a:off x="1115640" y="297180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Contacts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8"/>
          <p:cNvSpPr/>
          <p:nvPr/>
        </p:nvSpPr>
        <p:spPr>
          <a:xfrm>
            <a:off x="1115640" y="331920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CRUD · Recherche · Filtres</a:t>
            </a:r>
            <a:endParaRPr b="0" lang="fr-F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9"/>
          <p:cNvSpPr/>
          <p:nvPr/>
        </p:nvSpPr>
        <p:spPr>
          <a:xfrm>
            <a:off x="365760" y="3886200"/>
            <a:ext cx="4114440" cy="868320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0"/>
          <p:cNvSpPr/>
          <p:nvPr/>
        </p:nvSpPr>
        <p:spPr>
          <a:xfrm>
            <a:off x="475560" y="4050720"/>
            <a:ext cx="529920" cy="529920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1"/>
          <p:cNvSpPr/>
          <p:nvPr/>
        </p:nvSpPr>
        <p:spPr>
          <a:xfrm>
            <a:off x="475560" y="4050720"/>
            <a:ext cx="5299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🏢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2"/>
          <p:cNvSpPr/>
          <p:nvPr/>
        </p:nvSpPr>
        <p:spPr>
          <a:xfrm>
            <a:off x="1115640" y="397764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Entreprises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3"/>
          <p:cNvSpPr/>
          <p:nvPr/>
        </p:nvSpPr>
        <p:spPr>
          <a:xfrm>
            <a:off x="1115640" y="432504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Annuaire · Association contacts</a:t>
            </a:r>
            <a:endParaRPr b="0" lang="fr-F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4"/>
          <p:cNvSpPr/>
          <p:nvPr/>
        </p:nvSpPr>
        <p:spPr>
          <a:xfrm>
            <a:off x="4754880" y="868680"/>
            <a:ext cx="4114440" cy="868320"/>
          </a:xfrm>
          <a:prstGeom prst="rect">
            <a:avLst/>
          </a:prstGeom>
          <a:solidFill>
            <a:srgbClr val="111827"/>
          </a:solidFill>
          <a:ln w="1016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5"/>
          <p:cNvSpPr/>
          <p:nvPr/>
        </p:nvSpPr>
        <p:spPr>
          <a:xfrm>
            <a:off x="4864680" y="1033200"/>
            <a:ext cx="529920" cy="529920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6"/>
          <p:cNvSpPr/>
          <p:nvPr/>
        </p:nvSpPr>
        <p:spPr>
          <a:xfrm>
            <a:off x="4864680" y="1033200"/>
            <a:ext cx="5299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✅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7"/>
          <p:cNvSpPr/>
          <p:nvPr/>
        </p:nvSpPr>
        <p:spPr>
          <a:xfrm>
            <a:off x="5504760" y="96012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Tâches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8"/>
          <p:cNvSpPr/>
          <p:nvPr/>
        </p:nvSpPr>
        <p:spPr>
          <a:xfrm>
            <a:off x="5504760" y="130752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Priorité · Échéances · Kanban</a:t>
            </a:r>
            <a:endParaRPr b="0" lang="fr-F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9"/>
          <p:cNvSpPr/>
          <p:nvPr/>
        </p:nvSpPr>
        <p:spPr>
          <a:xfrm>
            <a:off x="4754880" y="1874520"/>
            <a:ext cx="4114440" cy="868320"/>
          </a:xfrm>
          <a:prstGeom prst="rect">
            <a:avLst/>
          </a:prstGeom>
          <a:solidFill>
            <a:srgbClr val="111827"/>
          </a:solidFill>
          <a:ln w="1016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30"/>
          <p:cNvSpPr/>
          <p:nvPr/>
        </p:nvSpPr>
        <p:spPr>
          <a:xfrm>
            <a:off x="4864680" y="2039040"/>
            <a:ext cx="529920" cy="529920"/>
          </a:xfrm>
          <a:prstGeom prst="rect">
            <a:avLst/>
          </a:prstGeom>
          <a:solidFill>
            <a:srgbClr val="6366f1"/>
          </a:solidFill>
          <a:ln w="635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1"/>
          <p:cNvSpPr/>
          <p:nvPr/>
        </p:nvSpPr>
        <p:spPr>
          <a:xfrm>
            <a:off x="4864680" y="2039040"/>
            <a:ext cx="5299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📊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2"/>
          <p:cNvSpPr/>
          <p:nvPr/>
        </p:nvSpPr>
        <p:spPr>
          <a:xfrm>
            <a:off x="5504760" y="196596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Dashboard KPIs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33"/>
          <p:cNvSpPr/>
          <p:nvPr/>
        </p:nvSpPr>
        <p:spPr>
          <a:xfrm>
            <a:off x="5504760" y="231336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 · Conversion · Pipeline actif</a:t>
            </a:r>
            <a:endParaRPr b="0" lang="fr-F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34"/>
          <p:cNvSpPr/>
          <p:nvPr/>
        </p:nvSpPr>
        <p:spPr>
          <a:xfrm>
            <a:off x="4754880" y="2880360"/>
            <a:ext cx="4114440" cy="868320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35"/>
          <p:cNvSpPr/>
          <p:nvPr/>
        </p:nvSpPr>
        <p:spPr>
          <a:xfrm>
            <a:off x="4864680" y="3044880"/>
            <a:ext cx="529920" cy="529920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6"/>
          <p:cNvSpPr/>
          <p:nvPr/>
        </p:nvSpPr>
        <p:spPr>
          <a:xfrm>
            <a:off x="4864680" y="3044880"/>
            <a:ext cx="5299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📧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37"/>
          <p:cNvSpPr/>
          <p:nvPr/>
        </p:nvSpPr>
        <p:spPr>
          <a:xfrm>
            <a:off x="5504760" y="297180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Email Brevo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38"/>
          <p:cNvSpPr/>
          <p:nvPr/>
        </p:nvSpPr>
        <p:spPr>
          <a:xfrm>
            <a:off x="5504760" y="331920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Auto · Templates · Tracking</a:t>
            </a:r>
            <a:endParaRPr b="0" lang="fr-F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a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457200" y="182880"/>
            <a:ext cx="6400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PIPELINE DE VENTE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6858000" y="228600"/>
            <a:ext cx="1462680" cy="255600"/>
          </a:xfrm>
          <a:prstGeom prst="rect">
            <a:avLst/>
          </a:prstGeom>
          <a:solidFill>
            <a:srgbClr val="6366f1"/>
          </a:solidFill>
          <a:ln w="635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6858000" y="246960"/>
            <a:ext cx="1462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201" strike="noStrike" u="none">
                <a:solidFill>
                  <a:srgbClr val="6366f1"/>
                </a:solidFill>
                <a:effectLst/>
                <a:uFillTx/>
                <a:latin typeface="Calibri"/>
              </a:rPr>
              <a:t>04b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4"/>
          <p:cNvSpPr/>
          <p:nvPr/>
        </p:nvSpPr>
        <p:spPr>
          <a:xfrm>
            <a:off x="137160" y="1097280"/>
            <a:ext cx="1325520" cy="3017160"/>
          </a:xfrm>
          <a:prstGeom prst="rect">
            <a:avLst/>
          </a:prstGeom>
          <a:solidFill>
            <a:srgbClr val="06b6d4"/>
          </a:solidFill>
          <a:ln w="1524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137160" y="2002680"/>
            <a:ext cx="1325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6b6d4"/>
                </a:solidFill>
                <a:effectLst/>
                <a:uFillTx/>
                <a:latin typeface="Calibri"/>
              </a:rPr>
              <a:t>12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137160" y="2756880"/>
            <a:ext cx="1325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leads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7"/>
          <p:cNvSpPr/>
          <p:nvPr/>
        </p:nvSpPr>
        <p:spPr>
          <a:xfrm>
            <a:off x="137160" y="3269880"/>
            <a:ext cx="1325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€45K</a:t>
            </a:r>
            <a:endParaRPr b="0" lang="fr-F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8"/>
          <p:cNvSpPr/>
          <p:nvPr/>
        </p:nvSpPr>
        <p:spPr>
          <a:xfrm>
            <a:off x="91440" y="416052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Prospection</a:t>
            </a:r>
            <a:endParaRPr b="0" lang="fr-FR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9"/>
          <p:cNvSpPr/>
          <p:nvPr/>
        </p:nvSpPr>
        <p:spPr>
          <a:xfrm>
            <a:off x="1618560" y="1950840"/>
            <a:ext cx="1325520" cy="2163600"/>
          </a:xfrm>
          <a:prstGeom prst="rect">
            <a:avLst/>
          </a:prstGeom>
          <a:solidFill>
            <a:srgbClr val="f59e0b"/>
          </a:solidFill>
          <a:ln w="1524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0"/>
          <p:cNvSpPr/>
          <p:nvPr/>
        </p:nvSpPr>
        <p:spPr>
          <a:xfrm>
            <a:off x="1618560" y="2599920"/>
            <a:ext cx="1325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59e0b"/>
                </a:solidFill>
                <a:effectLst/>
                <a:uFillTx/>
                <a:latin typeface="Calibri"/>
              </a:rPr>
              <a:t>8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1"/>
          <p:cNvSpPr/>
          <p:nvPr/>
        </p:nvSpPr>
        <p:spPr>
          <a:xfrm>
            <a:off x="1618560" y="3141000"/>
            <a:ext cx="1325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leads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2"/>
          <p:cNvSpPr/>
          <p:nvPr/>
        </p:nvSpPr>
        <p:spPr>
          <a:xfrm>
            <a:off x="1618560" y="3508920"/>
            <a:ext cx="1325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€62K</a:t>
            </a:r>
            <a:endParaRPr b="0" lang="fr-F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3"/>
          <p:cNvSpPr/>
          <p:nvPr/>
        </p:nvSpPr>
        <p:spPr>
          <a:xfrm>
            <a:off x="1572840" y="416052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Qualification</a:t>
            </a:r>
            <a:endParaRPr b="0" lang="fr-FR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4"/>
          <p:cNvSpPr/>
          <p:nvPr/>
        </p:nvSpPr>
        <p:spPr>
          <a:xfrm>
            <a:off x="3099960" y="2590920"/>
            <a:ext cx="1325520" cy="1523520"/>
          </a:xfrm>
          <a:prstGeom prst="rect">
            <a:avLst/>
          </a:prstGeom>
          <a:solidFill>
            <a:srgbClr val="8b5cf6"/>
          </a:solidFill>
          <a:ln w="1524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5"/>
          <p:cNvSpPr/>
          <p:nvPr/>
        </p:nvSpPr>
        <p:spPr>
          <a:xfrm>
            <a:off x="3099960" y="3048120"/>
            <a:ext cx="1325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8b5cf6"/>
                </a:solidFill>
                <a:effectLst/>
                <a:uFillTx/>
                <a:latin typeface="Calibri"/>
              </a:rPr>
              <a:t>5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6"/>
          <p:cNvSpPr/>
          <p:nvPr/>
        </p:nvSpPr>
        <p:spPr>
          <a:xfrm>
            <a:off x="3099960" y="3429000"/>
            <a:ext cx="1325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leads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7"/>
          <p:cNvSpPr/>
          <p:nvPr/>
        </p:nvSpPr>
        <p:spPr>
          <a:xfrm>
            <a:off x="3099960" y="3688200"/>
            <a:ext cx="1325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€38K</a:t>
            </a:r>
            <a:endParaRPr b="0" lang="fr-F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8"/>
          <p:cNvSpPr/>
          <p:nvPr/>
        </p:nvSpPr>
        <p:spPr>
          <a:xfrm>
            <a:off x="3054240" y="416052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Proposition</a:t>
            </a:r>
            <a:endParaRPr b="0" lang="fr-FR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9"/>
          <p:cNvSpPr/>
          <p:nvPr/>
        </p:nvSpPr>
        <p:spPr>
          <a:xfrm>
            <a:off x="4581000" y="3017520"/>
            <a:ext cx="1325520" cy="1096920"/>
          </a:xfrm>
          <a:prstGeom prst="rect">
            <a:avLst/>
          </a:prstGeom>
          <a:solidFill>
            <a:srgbClr val="f97316"/>
          </a:solidFill>
          <a:ln w="1524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0"/>
          <p:cNvSpPr/>
          <p:nvPr/>
        </p:nvSpPr>
        <p:spPr>
          <a:xfrm>
            <a:off x="4581000" y="3346560"/>
            <a:ext cx="1325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97316"/>
                </a:solidFill>
                <a:effectLst/>
                <a:uFillTx/>
                <a:latin typeface="Calibri"/>
              </a:rPr>
              <a:t>3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1"/>
          <p:cNvSpPr/>
          <p:nvPr/>
        </p:nvSpPr>
        <p:spPr>
          <a:xfrm>
            <a:off x="4581000" y="3620880"/>
            <a:ext cx="1325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leads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2"/>
          <p:cNvSpPr/>
          <p:nvPr/>
        </p:nvSpPr>
        <p:spPr>
          <a:xfrm>
            <a:off x="4581000" y="3807720"/>
            <a:ext cx="1325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€27K</a:t>
            </a:r>
            <a:endParaRPr b="0" lang="fr-F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3"/>
          <p:cNvSpPr/>
          <p:nvPr/>
        </p:nvSpPr>
        <p:spPr>
          <a:xfrm>
            <a:off x="4535280" y="416052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Négociation</a:t>
            </a:r>
            <a:endParaRPr b="0" lang="fr-FR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4"/>
          <p:cNvSpPr/>
          <p:nvPr/>
        </p:nvSpPr>
        <p:spPr>
          <a:xfrm>
            <a:off x="6062400" y="2163960"/>
            <a:ext cx="1325520" cy="1950480"/>
          </a:xfrm>
          <a:prstGeom prst="rect">
            <a:avLst/>
          </a:prstGeom>
          <a:solidFill>
            <a:srgbClr val="10b981"/>
          </a:solidFill>
          <a:ln w="1524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5"/>
          <p:cNvSpPr/>
          <p:nvPr/>
        </p:nvSpPr>
        <p:spPr>
          <a:xfrm>
            <a:off x="6062400" y="2749320"/>
            <a:ext cx="1325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7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6"/>
          <p:cNvSpPr/>
          <p:nvPr/>
        </p:nvSpPr>
        <p:spPr>
          <a:xfrm>
            <a:off x="6062400" y="3237120"/>
            <a:ext cx="1325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leads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7"/>
          <p:cNvSpPr/>
          <p:nvPr/>
        </p:nvSpPr>
        <p:spPr>
          <a:xfrm>
            <a:off x="6062400" y="3568680"/>
            <a:ext cx="1325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€91K</a:t>
            </a:r>
            <a:endParaRPr b="0" lang="fr-F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8"/>
          <p:cNvSpPr/>
          <p:nvPr/>
        </p:nvSpPr>
        <p:spPr>
          <a:xfrm>
            <a:off x="6016680" y="416052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Gagné ✓</a:t>
            </a:r>
            <a:endParaRPr b="0" lang="fr-FR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29"/>
          <p:cNvSpPr/>
          <p:nvPr/>
        </p:nvSpPr>
        <p:spPr>
          <a:xfrm>
            <a:off x="7543800" y="2804040"/>
            <a:ext cx="1325520" cy="1310400"/>
          </a:xfrm>
          <a:prstGeom prst="rect">
            <a:avLst/>
          </a:prstGeom>
          <a:solidFill>
            <a:srgbClr val="ef4444"/>
          </a:solidFill>
          <a:ln w="1524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0"/>
          <p:cNvSpPr/>
          <p:nvPr/>
        </p:nvSpPr>
        <p:spPr>
          <a:xfrm>
            <a:off x="7543800" y="3197520"/>
            <a:ext cx="1325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ef4444"/>
                </a:solidFill>
                <a:effectLst/>
                <a:uFillTx/>
                <a:latin typeface="Calibri"/>
              </a:rPr>
              <a:t>4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1"/>
          <p:cNvSpPr/>
          <p:nvPr/>
        </p:nvSpPr>
        <p:spPr>
          <a:xfrm>
            <a:off x="7543800" y="3525120"/>
            <a:ext cx="1325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leads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2"/>
          <p:cNvSpPr/>
          <p:nvPr/>
        </p:nvSpPr>
        <p:spPr>
          <a:xfrm>
            <a:off x="7543800" y="3747960"/>
            <a:ext cx="1325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€18K</a:t>
            </a:r>
            <a:endParaRPr b="0" lang="fr-F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33"/>
          <p:cNvSpPr/>
          <p:nvPr/>
        </p:nvSpPr>
        <p:spPr>
          <a:xfrm>
            <a:off x="7498080" y="416052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Perdu ✗</a:t>
            </a:r>
            <a:endParaRPr b="0" lang="fr-FR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34"/>
          <p:cNvSpPr/>
          <p:nvPr/>
        </p:nvSpPr>
        <p:spPr>
          <a:xfrm>
            <a:off x="137160" y="4572000"/>
            <a:ext cx="8869320" cy="365400"/>
          </a:xfrm>
          <a:prstGeom prst="rect">
            <a:avLst/>
          </a:prstGeom>
          <a:solidFill>
            <a:srgbClr val="6366f1"/>
          </a:solidFill>
          <a:ln w="1016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35"/>
          <p:cNvSpPr/>
          <p:nvPr/>
        </p:nvSpPr>
        <p:spPr>
          <a:xfrm>
            <a:off x="182880" y="4590360"/>
            <a:ext cx="8777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Pipeline actif : €172K   ·   Revenus gagnés : €91K   ·   Taux de conversion : 37%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a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"/>
          <p:cNvSpPr/>
          <p:nvPr/>
        </p:nvSpPr>
        <p:spPr>
          <a:xfrm>
            <a:off x="457200" y="182880"/>
            <a:ext cx="6400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RÔLES &amp; PERMISSIONS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"/>
          <p:cNvSpPr/>
          <p:nvPr/>
        </p:nvSpPr>
        <p:spPr>
          <a:xfrm>
            <a:off x="6858000" y="228600"/>
            <a:ext cx="1462680" cy="255600"/>
          </a:xfrm>
          <a:prstGeom prst="rect">
            <a:avLst/>
          </a:prstGeom>
          <a:solidFill>
            <a:srgbClr val="8b5cf6"/>
          </a:solidFill>
          <a:ln w="635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3"/>
          <p:cNvSpPr/>
          <p:nvPr/>
        </p:nvSpPr>
        <p:spPr>
          <a:xfrm>
            <a:off x="6858000" y="246960"/>
            <a:ext cx="1462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201" strike="noStrike" u="none">
                <a:solidFill>
                  <a:srgbClr val="8b5cf6"/>
                </a:solidFill>
                <a:effectLst/>
                <a:uFillTx/>
                <a:latin typeface="Calibri"/>
              </a:rPr>
              <a:t>05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4"/>
          <p:cNvSpPr/>
          <p:nvPr/>
        </p:nvSpPr>
        <p:spPr>
          <a:xfrm>
            <a:off x="365760" y="777240"/>
            <a:ext cx="1919880" cy="1416960"/>
          </a:xfrm>
          <a:prstGeom prst="rect">
            <a:avLst/>
          </a:prstGeom>
          <a:solidFill>
            <a:srgbClr val="111827"/>
          </a:solidFill>
          <a:ln w="1016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5"/>
          <p:cNvSpPr/>
          <p:nvPr/>
        </p:nvSpPr>
        <p:spPr>
          <a:xfrm>
            <a:off x="365760" y="86868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🛡️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6"/>
          <p:cNvSpPr/>
          <p:nvPr/>
        </p:nvSpPr>
        <p:spPr>
          <a:xfrm>
            <a:off x="365760" y="137160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Admin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7"/>
          <p:cNvSpPr/>
          <p:nvPr/>
        </p:nvSpPr>
        <p:spPr>
          <a:xfrm>
            <a:off x="640080" y="1673280"/>
            <a:ext cx="1371240" cy="200880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8"/>
          <p:cNvSpPr/>
          <p:nvPr/>
        </p:nvSpPr>
        <p:spPr>
          <a:xfrm>
            <a:off x="640080" y="167328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trike="noStrike" u="none">
                <a:solidFill>
                  <a:srgbClr val="f59e0b"/>
                </a:solidFill>
                <a:effectLst/>
                <a:uFillTx/>
                <a:latin typeface="Calibri"/>
              </a:rPr>
              <a:t>⏳ Approbation</a:t>
            </a:r>
            <a:endParaRPr b="0" lang="fr-FR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9"/>
          <p:cNvSpPr/>
          <p:nvPr/>
        </p:nvSpPr>
        <p:spPr>
          <a:xfrm>
            <a:off x="457200" y="192024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Accès total · Gestion users · Config</a:t>
            </a:r>
            <a:endParaRPr b="0" lang="fr-FR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0"/>
          <p:cNvSpPr/>
          <p:nvPr/>
        </p:nvSpPr>
        <p:spPr>
          <a:xfrm>
            <a:off x="2541960" y="777240"/>
            <a:ext cx="1919880" cy="1416960"/>
          </a:xfrm>
          <a:prstGeom prst="rect">
            <a:avLst/>
          </a:prstGeom>
          <a:solidFill>
            <a:srgbClr val="111827"/>
          </a:solidFill>
          <a:ln w="1016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1"/>
          <p:cNvSpPr/>
          <p:nvPr/>
        </p:nvSpPr>
        <p:spPr>
          <a:xfrm>
            <a:off x="2541960" y="86868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💼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2"/>
          <p:cNvSpPr/>
          <p:nvPr/>
        </p:nvSpPr>
        <p:spPr>
          <a:xfrm>
            <a:off x="2541960" y="137160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Commercial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3"/>
          <p:cNvSpPr/>
          <p:nvPr/>
        </p:nvSpPr>
        <p:spPr>
          <a:xfrm>
            <a:off x="2816280" y="1673280"/>
            <a:ext cx="1371240" cy="200880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4"/>
          <p:cNvSpPr/>
          <p:nvPr/>
        </p:nvSpPr>
        <p:spPr>
          <a:xfrm>
            <a:off x="2816280" y="167328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✅ Direct</a:t>
            </a:r>
            <a:endParaRPr b="0" lang="fr-FR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5"/>
          <p:cNvSpPr/>
          <p:nvPr/>
        </p:nvSpPr>
        <p:spPr>
          <a:xfrm>
            <a:off x="2633400" y="192024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Leads · Contacts · Pipeline</a:t>
            </a:r>
            <a:endParaRPr b="0" lang="fr-FR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6"/>
          <p:cNvSpPr/>
          <p:nvPr/>
        </p:nvSpPr>
        <p:spPr>
          <a:xfrm>
            <a:off x="4718160" y="777240"/>
            <a:ext cx="1919880" cy="1416960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7"/>
          <p:cNvSpPr/>
          <p:nvPr/>
        </p:nvSpPr>
        <p:spPr>
          <a:xfrm>
            <a:off x="4718160" y="86868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👤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8"/>
          <p:cNvSpPr/>
          <p:nvPr/>
        </p:nvSpPr>
        <p:spPr>
          <a:xfrm>
            <a:off x="4718160" y="137160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User Standard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9"/>
          <p:cNvSpPr/>
          <p:nvPr/>
        </p:nvSpPr>
        <p:spPr>
          <a:xfrm>
            <a:off x="4992480" y="1673280"/>
            <a:ext cx="1371240" cy="200880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0"/>
          <p:cNvSpPr/>
          <p:nvPr/>
        </p:nvSpPr>
        <p:spPr>
          <a:xfrm>
            <a:off x="4992480" y="167328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✅ Direct</a:t>
            </a:r>
            <a:endParaRPr b="0" lang="fr-FR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1"/>
          <p:cNvSpPr/>
          <p:nvPr/>
        </p:nvSpPr>
        <p:spPr>
          <a:xfrm>
            <a:off x="4809600" y="192024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Vue lecture seule</a:t>
            </a:r>
            <a:endParaRPr b="0" lang="fr-FR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2"/>
          <p:cNvSpPr/>
          <p:nvPr/>
        </p:nvSpPr>
        <p:spPr>
          <a:xfrm>
            <a:off x="6894720" y="777240"/>
            <a:ext cx="1919880" cy="1416960"/>
          </a:xfrm>
          <a:prstGeom prst="rect">
            <a:avLst/>
          </a:prstGeom>
          <a:solidFill>
            <a:srgbClr val="111827"/>
          </a:solidFill>
          <a:ln w="1016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3"/>
          <p:cNvSpPr/>
          <p:nvPr/>
        </p:nvSpPr>
        <p:spPr>
          <a:xfrm>
            <a:off x="6894720" y="86868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🤝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4"/>
          <p:cNvSpPr/>
          <p:nvPr/>
        </p:nvSpPr>
        <p:spPr>
          <a:xfrm>
            <a:off x="6894720" y="137160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Partenaire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25"/>
          <p:cNvSpPr/>
          <p:nvPr/>
        </p:nvSpPr>
        <p:spPr>
          <a:xfrm>
            <a:off x="7169040" y="1673280"/>
            <a:ext cx="1371240" cy="200880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6"/>
          <p:cNvSpPr/>
          <p:nvPr/>
        </p:nvSpPr>
        <p:spPr>
          <a:xfrm>
            <a:off x="7169040" y="167328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✅ Direct</a:t>
            </a:r>
            <a:endParaRPr b="0" lang="fr-FR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7"/>
          <p:cNvSpPr/>
          <p:nvPr/>
        </p:nvSpPr>
        <p:spPr>
          <a:xfrm>
            <a:off x="6986160" y="192024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Contacts · Entreprises</a:t>
            </a:r>
            <a:endParaRPr b="0" lang="fr-FR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8"/>
          <p:cNvSpPr/>
          <p:nvPr/>
        </p:nvSpPr>
        <p:spPr>
          <a:xfrm>
            <a:off x="457200" y="2468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Matrice d'accès aux modules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9"/>
          <p:cNvSpPr/>
          <p:nvPr/>
        </p:nvSpPr>
        <p:spPr>
          <a:xfrm>
            <a:off x="365760" y="281628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Module</a:t>
            </a:r>
            <a:endParaRPr b="0" lang="fr-F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30"/>
          <p:cNvSpPr/>
          <p:nvPr/>
        </p:nvSpPr>
        <p:spPr>
          <a:xfrm>
            <a:off x="2194560" y="2816280"/>
            <a:ext cx="1554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Admin</a:t>
            </a:r>
            <a:endParaRPr b="0" lang="fr-F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31"/>
          <p:cNvSpPr/>
          <p:nvPr/>
        </p:nvSpPr>
        <p:spPr>
          <a:xfrm>
            <a:off x="3749040" y="2816280"/>
            <a:ext cx="1554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Commercial</a:t>
            </a:r>
            <a:endParaRPr b="0" lang="fr-F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32"/>
          <p:cNvSpPr/>
          <p:nvPr/>
        </p:nvSpPr>
        <p:spPr>
          <a:xfrm>
            <a:off x="5303520" y="2816280"/>
            <a:ext cx="1554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User Std</a:t>
            </a:r>
            <a:endParaRPr b="0" lang="fr-F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3"/>
          <p:cNvSpPr/>
          <p:nvPr/>
        </p:nvSpPr>
        <p:spPr>
          <a:xfrm>
            <a:off x="6858000" y="2816280"/>
            <a:ext cx="1554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Partenaire</a:t>
            </a:r>
            <a:endParaRPr b="0" lang="fr-F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34"/>
          <p:cNvSpPr/>
          <p:nvPr/>
        </p:nvSpPr>
        <p:spPr>
          <a:xfrm>
            <a:off x="365760" y="3127320"/>
            <a:ext cx="841212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5"/>
          <p:cNvSpPr/>
          <p:nvPr/>
        </p:nvSpPr>
        <p:spPr>
          <a:xfrm>
            <a:off x="365760" y="316368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Dashboard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6"/>
          <p:cNvSpPr/>
          <p:nvPr/>
        </p:nvSpPr>
        <p:spPr>
          <a:xfrm>
            <a:off x="2194560" y="3163680"/>
            <a:ext cx="155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✓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37"/>
          <p:cNvSpPr/>
          <p:nvPr/>
        </p:nvSpPr>
        <p:spPr>
          <a:xfrm>
            <a:off x="3749040" y="3163680"/>
            <a:ext cx="155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✓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38"/>
          <p:cNvSpPr/>
          <p:nvPr/>
        </p:nvSpPr>
        <p:spPr>
          <a:xfrm>
            <a:off x="5303520" y="3163680"/>
            <a:ext cx="155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✓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39"/>
          <p:cNvSpPr/>
          <p:nvPr/>
        </p:nvSpPr>
        <p:spPr>
          <a:xfrm>
            <a:off x="6858000" y="3163680"/>
            <a:ext cx="155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—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40"/>
          <p:cNvSpPr/>
          <p:nvPr/>
        </p:nvSpPr>
        <p:spPr>
          <a:xfrm>
            <a:off x="365760" y="347472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Pipeline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41"/>
          <p:cNvSpPr/>
          <p:nvPr/>
        </p:nvSpPr>
        <p:spPr>
          <a:xfrm>
            <a:off x="2194560" y="3474720"/>
            <a:ext cx="155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✓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42"/>
          <p:cNvSpPr/>
          <p:nvPr/>
        </p:nvSpPr>
        <p:spPr>
          <a:xfrm>
            <a:off x="3749040" y="3474720"/>
            <a:ext cx="155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✓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43"/>
          <p:cNvSpPr/>
          <p:nvPr/>
        </p:nvSpPr>
        <p:spPr>
          <a:xfrm>
            <a:off x="5303520" y="3474720"/>
            <a:ext cx="155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✓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44"/>
          <p:cNvSpPr/>
          <p:nvPr/>
        </p:nvSpPr>
        <p:spPr>
          <a:xfrm>
            <a:off x="6858000" y="3474720"/>
            <a:ext cx="155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—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45"/>
          <p:cNvSpPr/>
          <p:nvPr/>
        </p:nvSpPr>
        <p:spPr>
          <a:xfrm>
            <a:off x="365760" y="3749040"/>
            <a:ext cx="841212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46"/>
          <p:cNvSpPr/>
          <p:nvPr/>
        </p:nvSpPr>
        <p:spPr>
          <a:xfrm>
            <a:off x="365760" y="378576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Contacts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47"/>
          <p:cNvSpPr/>
          <p:nvPr/>
        </p:nvSpPr>
        <p:spPr>
          <a:xfrm>
            <a:off x="2194560" y="3785760"/>
            <a:ext cx="155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✓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48"/>
          <p:cNvSpPr/>
          <p:nvPr/>
        </p:nvSpPr>
        <p:spPr>
          <a:xfrm>
            <a:off x="3749040" y="3785760"/>
            <a:ext cx="155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✓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49"/>
          <p:cNvSpPr/>
          <p:nvPr/>
        </p:nvSpPr>
        <p:spPr>
          <a:xfrm>
            <a:off x="5303520" y="3785760"/>
            <a:ext cx="155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✓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50"/>
          <p:cNvSpPr/>
          <p:nvPr/>
        </p:nvSpPr>
        <p:spPr>
          <a:xfrm>
            <a:off x="6858000" y="3785760"/>
            <a:ext cx="155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✓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51"/>
          <p:cNvSpPr/>
          <p:nvPr/>
        </p:nvSpPr>
        <p:spPr>
          <a:xfrm>
            <a:off x="365760" y="409644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Entreprises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52"/>
          <p:cNvSpPr/>
          <p:nvPr/>
        </p:nvSpPr>
        <p:spPr>
          <a:xfrm>
            <a:off x="2194560" y="4096440"/>
            <a:ext cx="155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✓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53"/>
          <p:cNvSpPr/>
          <p:nvPr/>
        </p:nvSpPr>
        <p:spPr>
          <a:xfrm>
            <a:off x="3749040" y="4096440"/>
            <a:ext cx="155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✓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54"/>
          <p:cNvSpPr/>
          <p:nvPr/>
        </p:nvSpPr>
        <p:spPr>
          <a:xfrm>
            <a:off x="5303520" y="4096440"/>
            <a:ext cx="155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✓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55"/>
          <p:cNvSpPr/>
          <p:nvPr/>
        </p:nvSpPr>
        <p:spPr>
          <a:xfrm>
            <a:off x="6858000" y="4096440"/>
            <a:ext cx="155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✓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56"/>
          <p:cNvSpPr/>
          <p:nvPr/>
        </p:nvSpPr>
        <p:spPr>
          <a:xfrm>
            <a:off x="365760" y="4370760"/>
            <a:ext cx="841212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57"/>
          <p:cNvSpPr/>
          <p:nvPr/>
        </p:nvSpPr>
        <p:spPr>
          <a:xfrm>
            <a:off x="365760" y="440748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Tâches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58"/>
          <p:cNvSpPr/>
          <p:nvPr/>
        </p:nvSpPr>
        <p:spPr>
          <a:xfrm>
            <a:off x="2194560" y="4407480"/>
            <a:ext cx="155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✓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59"/>
          <p:cNvSpPr/>
          <p:nvPr/>
        </p:nvSpPr>
        <p:spPr>
          <a:xfrm>
            <a:off x="3749040" y="4407480"/>
            <a:ext cx="155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✓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60"/>
          <p:cNvSpPr/>
          <p:nvPr/>
        </p:nvSpPr>
        <p:spPr>
          <a:xfrm>
            <a:off x="5303520" y="4407480"/>
            <a:ext cx="155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✓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61"/>
          <p:cNvSpPr/>
          <p:nvPr/>
        </p:nvSpPr>
        <p:spPr>
          <a:xfrm>
            <a:off x="6858000" y="4407480"/>
            <a:ext cx="155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—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62"/>
          <p:cNvSpPr/>
          <p:nvPr/>
        </p:nvSpPr>
        <p:spPr>
          <a:xfrm>
            <a:off x="365760" y="471816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Paramètres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63"/>
          <p:cNvSpPr/>
          <p:nvPr/>
        </p:nvSpPr>
        <p:spPr>
          <a:xfrm>
            <a:off x="2194560" y="4718160"/>
            <a:ext cx="155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10b981"/>
                </a:solidFill>
                <a:effectLst/>
                <a:uFillTx/>
                <a:latin typeface="Calibri"/>
              </a:rPr>
              <a:t>✓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64"/>
          <p:cNvSpPr/>
          <p:nvPr/>
        </p:nvSpPr>
        <p:spPr>
          <a:xfrm>
            <a:off x="3749040" y="4718160"/>
            <a:ext cx="155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—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65"/>
          <p:cNvSpPr/>
          <p:nvPr/>
        </p:nvSpPr>
        <p:spPr>
          <a:xfrm>
            <a:off x="5303520" y="4718160"/>
            <a:ext cx="155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—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66"/>
          <p:cNvSpPr/>
          <p:nvPr/>
        </p:nvSpPr>
        <p:spPr>
          <a:xfrm>
            <a:off x="6858000" y="4718160"/>
            <a:ext cx="155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—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a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"/>
          <p:cNvSpPr/>
          <p:nvPr/>
        </p:nvSpPr>
        <p:spPr>
          <a:xfrm>
            <a:off x="457200" y="182880"/>
            <a:ext cx="7314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DÉFIS TECHNIQUES &amp; SOLUTIONS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2"/>
          <p:cNvSpPr/>
          <p:nvPr/>
        </p:nvSpPr>
        <p:spPr>
          <a:xfrm>
            <a:off x="6858000" y="228600"/>
            <a:ext cx="1462680" cy="255600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3"/>
          <p:cNvSpPr/>
          <p:nvPr/>
        </p:nvSpPr>
        <p:spPr>
          <a:xfrm>
            <a:off x="6858000" y="246960"/>
            <a:ext cx="1462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201" strike="noStrike" u="none">
                <a:solidFill>
                  <a:srgbClr val="f59e0b"/>
                </a:solidFill>
                <a:effectLst/>
                <a:uFillTx/>
                <a:latin typeface="Calibri"/>
              </a:rPr>
              <a:t>06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4"/>
          <p:cNvSpPr/>
          <p:nvPr/>
        </p:nvSpPr>
        <p:spPr>
          <a:xfrm>
            <a:off x="365760" y="777240"/>
            <a:ext cx="4114440" cy="1919880"/>
          </a:xfrm>
          <a:prstGeom prst="rect">
            <a:avLst/>
          </a:prstGeom>
          <a:solidFill>
            <a:srgbClr val="111827"/>
          </a:solidFill>
          <a:ln w="1016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5"/>
          <p:cNvSpPr/>
          <p:nvPr/>
        </p:nvSpPr>
        <p:spPr>
          <a:xfrm>
            <a:off x="502920" y="914400"/>
            <a:ext cx="411120" cy="411120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6"/>
          <p:cNvSpPr/>
          <p:nvPr/>
        </p:nvSpPr>
        <p:spPr>
          <a:xfrm>
            <a:off x="502920" y="91440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59e0b"/>
                </a:solidFill>
                <a:effectLst/>
                <a:uFillTx/>
                <a:latin typeface="Calibri"/>
              </a:rPr>
              <a:t>01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7"/>
          <p:cNvSpPr/>
          <p:nvPr/>
        </p:nvSpPr>
        <p:spPr>
          <a:xfrm>
            <a:off x="1024200" y="97848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Erreur SQL 42601</a:t>
            </a:r>
            <a:endParaRPr b="0" lang="fr-F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8"/>
          <p:cNvSpPr/>
          <p:nvPr/>
        </p:nvSpPr>
        <p:spPr>
          <a:xfrm>
            <a:off x="502920" y="1435680"/>
            <a:ext cx="3794400" cy="475200"/>
          </a:xfrm>
          <a:prstGeom prst="rect">
            <a:avLst/>
          </a:prstGeom>
          <a:solidFill>
            <a:srgbClr val="ef4444"/>
          </a:solidFill>
          <a:ln w="635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9"/>
          <p:cNvSpPr/>
          <p:nvPr/>
        </p:nvSpPr>
        <p:spPr>
          <a:xfrm>
            <a:off x="567000" y="1454040"/>
            <a:ext cx="3657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CREATE POLICY IF NOT EXISTS invalide en PostgreSQL</a:t>
            </a:r>
            <a:endParaRPr b="0" lang="fr-FR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10"/>
          <p:cNvSpPr/>
          <p:nvPr/>
        </p:nvSpPr>
        <p:spPr>
          <a:xfrm>
            <a:off x="502920" y="1965960"/>
            <a:ext cx="3794400" cy="475200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1"/>
          <p:cNvSpPr/>
          <p:nvPr/>
        </p:nvSpPr>
        <p:spPr>
          <a:xfrm>
            <a:off x="567000" y="1984320"/>
            <a:ext cx="3657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 DROP POLICY IF EXISTS + CREATE POLICY</a:t>
            </a:r>
            <a:endParaRPr b="1" lang="fr-FR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12"/>
          <p:cNvSpPr/>
          <p:nvPr/>
        </p:nvSpPr>
        <p:spPr>
          <a:xfrm>
            <a:off x="365760" y="2880360"/>
            <a:ext cx="4114440" cy="1919880"/>
          </a:xfrm>
          <a:prstGeom prst="rect">
            <a:avLst/>
          </a:prstGeom>
          <a:solidFill>
            <a:srgbClr val="111827"/>
          </a:solidFill>
          <a:ln w="1016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3"/>
          <p:cNvSpPr/>
          <p:nvPr/>
        </p:nvSpPr>
        <p:spPr>
          <a:xfrm>
            <a:off x="502920" y="3017520"/>
            <a:ext cx="411120" cy="411120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4"/>
          <p:cNvSpPr/>
          <p:nvPr/>
        </p:nvSpPr>
        <p:spPr>
          <a:xfrm>
            <a:off x="502920" y="30175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59e0b"/>
                </a:solidFill>
                <a:effectLst/>
                <a:uFillTx/>
                <a:latin typeface="Calibri"/>
              </a:rPr>
              <a:t>02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5"/>
          <p:cNvSpPr/>
          <p:nvPr/>
        </p:nvSpPr>
        <p:spPr>
          <a:xfrm>
            <a:off x="1024200" y="308160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Blocage RLS sur changeRole()</a:t>
            </a:r>
            <a:endParaRPr b="0" lang="fr-F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16"/>
          <p:cNvSpPr/>
          <p:nvPr/>
        </p:nvSpPr>
        <p:spPr>
          <a:xfrm>
            <a:off x="502920" y="3538800"/>
            <a:ext cx="3794400" cy="475200"/>
          </a:xfrm>
          <a:prstGeom prst="rect">
            <a:avLst/>
          </a:prstGeom>
          <a:solidFill>
            <a:srgbClr val="ef4444"/>
          </a:solidFill>
          <a:ln w="635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7"/>
          <p:cNvSpPr/>
          <p:nvPr/>
        </p:nvSpPr>
        <p:spPr>
          <a:xfrm>
            <a:off x="567000" y="3557160"/>
            <a:ext cx="3657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UPDATE direct sur profiles bloqué par RLS</a:t>
            </a:r>
            <a:endParaRPr b="0" lang="fr-FR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18"/>
          <p:cNvSpPr/>
          <p:nvPr/>
        </p:nvSpPr>
        <p:spPr>
          <a:xfrm>
            <a:off x="502920" y="4069080"/>
            <a:ext cx="3794400" cy="475200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9"/>
          <p:cNvSpPr/>
          <p:nvPr/>
        </p:nvSpPr>
        <p:spPr>
          <a:xfrm>
            <a:off x="567000" y="4087440"/>
            <a:ext cx="3657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 Fonction RPC avec SECURITY DEFINER : update_user_role()</a:t>
            </a:r>
            <a:endParaRPr b="1" lang="fr-FR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20"/>
          <p:cNvSpPr/>
          <p:nvPr/>
        </p:nvSpPr>
        <p:spPr>
          <a:xfrm>
            <a:off x="4754880" y="777240"/>
            <a:ext cx="4114440" cy="1919880"/>
          </a:xfrm>
          <a:prstGeom prst="rect">
            <a:avLst/>
          </a:prstGeom>
          <a:solidFill>
            <a:srgbClr val="111827"/>
          </a:solidFill>
          <a:ln w="1016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21"/>
          <p:cNvSpPr/>
          <p:nvPr/>
        </p:nvSpPr>
        <p:spPr>
          <a:xfrm>
            <a:off x="4892040" y="914400"/>
            <a:ext cx="411120" cy="411120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22"/>
          <p:cNvSpPr/>
          <p:nvPr/>
        </p:nvSpPr>
        <p:spPr>
          <a:xfrm>
            <a:off x="4892040" y="91440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59e0b"/>
                </a:solidFill>
                <a:effectLst/>
                <a:uFillTx/>
                <a:latin typeface="Calibri"/>
              </a:rPr>
              <a:t>03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23"/>
          <p:cNvSpPr/>
          <p:nvPr/>
        </p:nvSpPr>
        <p:spPr>
          <a:xfrm>
            <a:off x="5413320" y="97848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Demandes admin invisibles</a:t>
            </a:r>
            <a:endParaRPr b="0" lang="fr-F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24"/>
          <p:cNvSpPr/>
          <p:nvPr/>
        </p:nvSpPr>
        <p:spPr>
          <a:xfrm>
            <a:off x="4892040" y="1435680"/>
            <a:ext cx="3794400" cy="475200"/>
          </a:xfrm>
          <a:prstGeom prst="rect">
            <a:avLst/>
          </a:prstGeom>
          <a:solidFill>
            <a:srgbClr val="ef4444"/>
          </a:solidFill>
          <a:ln w="635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5"/>
          <p:cNvSpPr/>
          <p:nvPr/>
        </p:nvSpPr>
        <p:spPr>
          <a:xfrm>
            <a:off x="4956120" y="1454040"/>
            <a:ext cx="3657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 handle_new_user() insérait admin directement → 0 access_request</a:t>
            </a:r>
            <a:endParaRPr b="0" lang="fr-FR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26"/>
          <p:cNvSpPr/>
          <p:nvPr/>
        </p:nvSpPr>
        <p:spPr>
          <a:xfrm>
            <a:off x="4892040" y="1965960"/>
            <a:ext cx="3794400" cy="475200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27"/>
          <p:cNvSpPr/>
          <p:nvPr/>
        </p:nvSpPr>
        <p:spPr>
          <a:xfrm>
            <a:off x="4956120" y="1984320"/>
            <a:ext cx="3657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 Trigger corrigé : admin démarre en commercial + request créée</a:t>
            </a:r>
            <a:endParaRPr b="1" lang="fr-FR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28"/>
          <p:cNvSpPr/>
          <p:nvPr/>
        </p:nvSpPr>
        <p:spPr>
          <a:xfrm>
            <a:off x="4754880" y="2880360"/>
            <a:ext cx="4114440" cy="1919880"/>
          </a:xfrm>
          <a:prstGeom prst="rect">
            <a:avLst/>
          </a:prstGeom>
          <a:solidFill>
            <a:srgbClr val="111827"/>
          </a:solidFill>
          <a:ln w="1016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29"/>
          <p:cNvSpPr/>
          <p:nvPr/>
        </p:nvSpPr>
        <p:spPr>
          <a:xfrm>
            <a:off x="4892040" y="3017520"/>
            <a:ext cx="411120" cy="411120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30"/>
          <p:cNvSpPr/>
          <p:nvPr/>
        </p:nvSpPr>
        <p:spPr>
          <a:xfrm>
            <a:off x="4892040" y="30175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59e0b"/>
                </a:solidFill>
                <a:effectLst/>
                <a:uFillTx/>
                <a:latin typeface="Calibri"/>
              </a:rPr>
              <a:t>04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31"/>
          <p:cNvSpPr/>
          <p:nvPr/>
        </p:nvSpPr>
        <p:spPr>
          <a:xfrm>
            <a:off x="5413320" y="308160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Erreur 406 profil</a:t>
            </a:r>
            <a:endParaRPr b="0" lang="fr-F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32"/>
          <p:cNvSpPr/>
          <p:nvPr/>
        </p:nvSpPr>
        <p:spPr>
          <a:xfrm>
            <a:off x="4892040" y="3538800"/>
            <a:ext cx="3794400" cy="475200"/>
          </a:xfrm>
          <a:prstGeom prst="rect">
            <a:avLst/>
          </a:prstGeom>
          <a:solidFill>
            <a:srgbClr val="ef4444"/>
          </a:solidFill>
          <a:ln w="635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33"/>
          <p:cNvSpPr/>
          <p:nvPr/>
        </p:nvSpPr>
        <p:spPr>
          <a:xfrm>
            <a:off x="4956120" y="3557160"/>
            <a:ext cx="3657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.single() retournait erreur si 0 résultats</a:t>
            </a:r>
            <a:endParaRPr b="0" lang="fr-FR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34"/>
          <p:cNvSpPr/>
          <p:nvPr/>
        </p:nvSpPr>
        <p:spPr>
          <a:xfrm>
            <a:off x="4892040" y="4069080"/>
            <a:ext cx="3794400" cy="475200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35"/>
          <p:cNvSpPr/>
          <p:nvPr/>
        </p:nvSpPr>
        <p:spPr>
          <a:xfrm>
            <a:off x="4956120" y="4087440"/>
            <a:ext cx="3657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  .maybeSingle() + backfill des profils manquants</a:t>
            </a:r>
            <a:endParaRPr b="1" lang="fr-FR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a0f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"/>
          <p:cNvSpPr/>
          <p:nvPr/>
        </p:nvSpPr>
        <p:spPr>
          <a:xfrm>
            <a:off x="457200" y="182880"/>
            <a:ext cx="6400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DÉPLOIEMENT &amp; RÉSULTATS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2"/>
          <p:cNvSpPr/>
          <p:nvPr/>
        </p:nvSpPr>
        <p:spPr>
          <a:xfrm>
            <a:off x="6858000" y="228600"/>
            <a:ext cx="1462680" cy="255600"/>
          </a:xfrm>
          <a:prstGeom prst="rect">
            <a:avLst/>
          </a:prstGeom>
          <a:solidFill>
            <a:srgbClr val="0d9488"/>
          </a:solidFill>
          <a:ln w="635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3"/>
          <p:cNvSpPr/>
          <p:nvPr/>
        </p:nvSpPr>
        <p:spPr>
          <a:xfrm>
            <a:off x="6858000" y="246960"/>
            <a:ext cx="1462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201" strike="noStrike" u="none">
                <a:solidFill>
                  <a:srgbClr val="0d9488"/>
                </a:solidFill>
                <a:effectLst/>
                <a:uFillTx/>
                <a:latin typeface="Calibri"/>
              </a:rPr>
              <a:t>07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4"/>
          <p:cNvSpPr/>
          <p:nvPr/>
        </p:nvSpPr>
        <p:spPr>
          <a:xfrm>
            <a:off x="365760" y="777240"/>
            <a:ext cx="1828440" cy="1371240"/>
          </a:xfrm>
          <a:prstGeom prst="rect">
            <a:avLst/>
          </a:prstGeom>
          <a:solidFill>
            <a:srgbClr val="111827"/>
          </a:solidFill>
          <a:ln w="1016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5"/>
          <p:cNvSpPr/>
          <p:nvPr/>
        </p:nvSpPr>
        <p:spPr>
          <a:xfrm>
            <a:off x="365760" y="86868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📤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6"/>
          <p:cNvSpPr/>
          <p:nvPr/>
        </p:nvSpPr>
        <p:spPr>
          <a:xfrm>
            <a:off x="365760" y="128016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201" strike="noStrike" u="none">
                <a:solidFill>
                  <a:srgbClr val="0d9488"/>
                </a:solidFill>
                <a:effectLst/>
                <a:uFillTx/>
                <a:latin typeface="Calibri"/>
              </a:rPr>
              <a:t>STEP 1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7"/>
          <p:cNvSpPr/>
          <p:nvPr/>
        </p:nvSpPr>
        <p:spPr>
          <a:xfrm>
            <a:off x="365760" y="14814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git push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origin main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8"/>
          <p:cNvSpPr/>
          <p:nvPr/>
        </p:nvSpPr>
        <p:spPr>
          <a:xfrm>
            <a:off x="2240280" y="1188720"/>
            <a:ext cx="228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→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9"/>
          <p:cNvSpPr/>
          <p:nvPr/>
        </p:nvSpPr>
        <p:spPr>
          <a:xfrm>
            <a:off x="2514600" y="777240"/>
            <a:ext cx="1828440" cy="1371240"/>
          </a:xfrm>
          <a:prstGeom prst="rect">
            <a:avLst/>
          </a:prstGeom>
          <a:solidFill>
            <a:srgbClr val="111827"/>
          </a:solidFill>
          <a:ln w="1016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0"/>
          <p:cNvSpPr/>
          <p:nvPr/>
        </p:nvSpPr>
        <p:spPr>
          <a:xfrm>
            <a:off x="2514600" y="86868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🔔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1"/>
          <p:cNvSpPr/>
          <p:nvPr/>
        </p:nvSpPr>
        <p:spPr>
          <a:xfrm>
            <a:off x="2514600" y="128016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201" strike="noStrike" u="none">
                <a:solidFill>
                  <a:srgbClr val="0d9488"/>
                </a:solidFill>
                <a:effectLst/>
                <a:uFillTx/>
                <a:latin typeface="Calibri"/>
              </a:rPr>
              <a:t>STEP 2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2"/>
          <p:cNvSpPr/>
          <p:nvPr/>
        </p:nvSpPr>
        <p:spPr>
          <a:xfrm>
            <a:off x="2514600" y="14814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GitHub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Webhook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3"/>
          <p:cNvSpPr/>
          <p:nvPr/>
        </p:nvSpPr>
        <p:spPr>
          <a:xfrm>
            <a:off x="4389120" y="1188720"/>
            <a:ext cx="228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→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4"/>
          <p:cNvSpPr/>
          <p:nvPr/>
        </p:nvSpPr>
        <p:spPr>
          <a:xfrm>
            <a:off x="4663440" y="777240"/>
            <a:ext cx="1828440" cy="1371240"/>
          </a:xfrm>
          <a:prstGeom prst="rect">
            <a:avLst/>
          </a:prstGeom>
          <a:solidFill>
            <a:srgbClr val="111827"/>
          </a:solidFill>
          <a:ln w="1016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5"/>
          <p:cNvSpPr/>
          <p:nvPr/>
        </p:nvSpPr>
        <p:spPr>
          <a:xfrm>
            <a:off x="4663440" y="86868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⚙️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6"/>
          <p:cNvSpPr/>
          <p:nvPr/>
        </p:nvSpPr>
        <p:spPr>
          <a:xfrm>
            <a:off x="4663440" y="128016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201" strike="noStrike" u="none">
                <a:solidFill>
                  <a:srgbClr val="0d9488"/>
                </a:solidFill>
                <a:effectLst/>
                <a:uFillTx/>
                <a:latin typeface="Calibri"/>
              </a:rPr>
              <a:t>STEP 3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7"/>
          <p:cNvSpPr/>
          <p:nvPr/>
        </p:nvSpPr>
        <p:spPr>
          <a:xfrm>
            <a:off x="4663440" y="14814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Vercel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Build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8"/>
          <p:cNvSpPr/>
          <p:nvPr/>
        </p:nvSpPr>
        <p:spPr>
          <a:xfrm>
            <a:off x="6537960" y="1188720"/>
            <a:ext cx="228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→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9"/>
          <p:cNvSpPr/>
          <p:nvPr/>
        </p:nvSpPr>
        <p:spPr>
          <a:xfrm>
            <a:off x="6812280" y="777240"/>
            <a:ext cx="1828440" cy="1371240"/>
          </a:xfrm>
          <a:prstGeom prst="rect">
            <a:avLst/>
          </a:prstGeom>
          <a:solidFill>
            <a:srgbClr val="111827"/>
          </a:solidFill>
          <a:ln w="1016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20"/>
          <p:cNvSpPr/>
          <p:nvPr/>
        </p:nvSpPr>
        <p:spPr>
          <a:xfrm>
            <a:off x="6812280" y="86868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🚀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21"/>
          <p:cNvSpPr/>
          <p:nvPr/>
        </p:nvSpPr>
        <p:spPr>
          <a:xfrm>
            <a:off x="6812280" y="128016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201" strike="noStrike" u="none">
                <a:solidFill>
                  <a:srgbClr val="0d9488"/>
                </a:solidFill>
                <a:effectLst/>
                <a:uFillTx/>
                <a:latin typeface="Calibri"/>
              </a:rPr>
              <a:t>STEP 4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2"/>
          <p:cNvSpPr/>
          <p:nvPr/>
        </p:nvSpPr>
        <p:spPr>
          <a:xfrm>
            <a:off x="6812280" y="14814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Deploy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Production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23"/>
          <p:cNvSpPr/>
          <p:nvPr/>
        </p:nvSpPr>
        <p:spPr>
          <a:xfrm>
            <a:off x="457200" y="233172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Variables d'environnement</a:t>
            </a:r>
            <a:endParaRPr b="0" lang="fr-F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24"/>
          <p:cNvSpPr/>
          <p:nvPr/>
        </p:nvSpPr>
        <p:spPr>
          <a:xfrm>
            <a:off x="457200" y="2633400"/>
            <a:ext cx="3931560" cy="27396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25"/>
          <p:cNvSpPr/>
          <p:nvPr/>
        </p:nvSpPr>
        <p:spPr>
          <a:xfrm>
            <a:off x="594360" y="2651760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366f1"/>
                </a:solidFill>
                <a:effectLst/>
                <a:uFillTx/>
                <a:latin typeface="Consolas"/>
                <a:ea typeface="Consolas"/>
              </a:rPr>
              <a:t>NEXT_PUBLIC_SUPABASE_URL</a:t>
            </a:r>
            <a:endParaRPr b="0" lang="fr-F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26"/>
          <p:cNvSpPr/>
          <p:nvPr/>
        </p:nvSpPr>
        <p:spPr>
          <a:xfrm>
            <a:off x="457200" y="2953440"/>
            <a:ext cx="3931560" cy="27396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27"/>
          <p:cNvSpPr/>
          <p:nvPr/>
        </p:nvSpPr>
        <p:spPr>
          <a:xfrm>
            <a:off x="594360" y="2971800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366f1"/>
                </a:solidFill>
                <a:effectLst/>
                <a:uFillTx/>
                <a:latin typeface="Consolas"/>
                <a:ea typeface="Consolas"/>
              </a:rPr>
              <a:t>NEXT_PUBLIC_SUPABASE_ANON_KEY</a:t>
            </a:r>
            <a:endParaRPr b="0" lang="fr-F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28"/>
          <p:cNvSpPr/>
          <p:nvPr/>
        </p:nvSpPr>
        <p:spPr>
          <a:xfrm>
            <a:off x="457200" y="3273480"/>
            <a:ext cx="3931560" cy="27396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9"/>
          <p:cNvSpPr/>
          <p:nvPr/>
        </p:nvSpPr>
        <p:spPr>
          <a:xfrm>
            <a:off x="594360" y="3291840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366f1"/>
                </a:solidFill>
                <a:effectLst/>
                <a:uFillTx/>
                <a:latin typeface="Consolas"/>
                <a:ea typeface="Consolas"/>
              </a:rPr>
              <a:t>BREVO_API_KEY</a:t>
            </a:r>
            <a:endParaRPr b="0" lang="fr-F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30"/>
          <p:cNvSpPr/>
          <p:nvPr/>
        </p:nvSpPr>
        <p:spPr>
          <a:xfrm>
            <a:off x="457200" y="3593520"/>
            <a:ext cx="3931560" cy="27396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31"/>
          <p:cNvSpPr/>
          <p:nvPr/>
        </p:nvSpPr>
        <p:spPr>
          <a:xfrm>
            <a:off x="594360" y="3611880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366f1"/>
                </a:solidFill>
                <a:effectLst/>
                <a:uFillTx/>
                <a:latin typeface="Consolas"/>
                <a:ea typeface="Consolas"/>
              </a:rPr>
              <a:t>NEXT_PUBLIC_APP_URL</a:t>
            </a:r>
            <a:endParaRPr b="0" lang="fr-F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32"/>
          <p:cNvSpPr/>
          <p:nvPr/>
        </p:nvSpPr>
        <p:spPr>
          <a:xfrm>
            <a:off x="4572000" y="2331720"/>
            <a:ext cx="1005480" cy="868320"/>
          </a:xfrm>
          <a:prstGeom prst="rect">
            <a:avLst/>
          </a:prstGeom>
          <a:solidFill>
            <a:srgbClr val="111827"/>
          </a:solidFill>
          <a:ln w="1016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33"/>
          <p:cNvSpPr/>
          <p:nvPr/>
        </p:nvSpPr>
        <p:spPr>
          <a:xfrm>
            <a:off x="4572000" y="2377440"/>
            <a:ext cx="1005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6366f1"/>
                </a:solidFill>
                <a:effectLst/>
                <a:uFillTx/>
                <a:latin typeface="Calibri"/>
              </a:rPr>
              <a:t>7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34"/>
          <p:cNvSpPr/>
          <p:nvPr/>
        </p:nvSpPr>
        <p:spPr>
          <a:xfrm>
            <a:off x="4572000" y="287136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Modules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35"/>
          <p:cNvSpPr/>
          <p:nvPr/>
        </p:nvSpPr>
        <p:spPr>
          <a:xfrm>
            <a:off x="5687640" y="2331720"/>
            <a:ext cx="1005480" cy="868320"/>
          </a:xfrm>
          <a:prstGeom prst="rect">
            <a:avLst/>
          </a:prstGeom>
          <a:solidFill>
            <a:srgbClr val="111827"/>
          </a:solidFill>
          <a:ln w="1016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36"/>
          <p:cNvSpPr/>
          <p:nvPr/>
        </p:nvSpPr>
        <p:spPr>
          <a:xfrm>
            <a:off x="5687640" y="2377440"/>
            <a:ext cx="1005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6366f1"/>
                </a:solidFill>
                <a:effectLst/>
                <a:uFillTx/>
                <a:latin typeface="Calibri"/>
              </a:rPr>
              <a:t>4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37"/>
          <p:cNvSpPr/>
          <p:nvPr/>
        </p:nvSpPr>
        <p:spPr>
          <a:xfrm>
            <a:off x="5687640" y="287136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Rôles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38"/>
          <p:cNvSpPr/>
          <p:nvPr/>
        </p:nvSpPr>
        <p:spPr>
          <a:xfrm>
            <a:off x="6803280" y="2331720"/>
            <a:ext cx="1005480" cy="868320"/>
          </a:xfrm>
          <a:prstGeom prst="rect">
            <a:avLst/>
          </a:prstGeom>
          <a:solidFill>
            <a:srgbClr val="111827"/>
          </a:solidFill>
          <a:ln w="1016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39"/>
          <p:cNvSpPr/>
          <p:nvPr/>
        </p:nvSpPr>
        <p:spPr>
          <a:xfrm>
            <a:off x="6803280" y="2377440"/>
            <a:ext cx="1005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6366f1"/>
                </a:solidFill>
                <a:effectLst/>
                <a:uFillTx/>
                <a:latin typeface="Calibri"/>
              </a:rPr>
              <a:t>6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40"/>
          <p:cNvSpPr/>
          <p:nvPr/>
        </p:nvSpPr>
        <p:spPr>
          <a:xfrm>
            <a:off x="6803280" y="287136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Étapes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41"/>
          <p:cNvSpPr/>
          <p:nvPr/>
        </p:nvSpPr>
        <p:spPr>
          <a:xfrm>
            <a:off x="7918560" y="2331720"/>
            <a:ext cx="1005480" cy="868320"/>
          </a:xfrm>
          <a:prstGeom prst="rect">
            <a:avLst/>
          </a:prstGeom>
          <a:solidFill>
            <a:srgbClr val="111827"/>
          </a:solidFill>
          <a:ln w="1016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42"/>
          <p:cNvSpPr/>
          <p:nvPr/>
        </p:nvSpPr>
        <p:spPr>
          <a:xfrm>
            <a:off x="7918560" y="2377440"/>
            <a:ext cx="1005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6366f1"/>
                </a:solidFill>
                <a:effectLst/>
                <a:uFillTx/>
                <a:latin typeface="Calibri"/>
              </a:rPr>
              <a:t>100%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43"/>
          <p:cNvSpPr/>
          <p:nvPr/>
        </p:nvSpPr>
        <p:spPr>
          <a:xfrm>
            <a:off x="7918560" y="287136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SaaS</a:t>
            </a:r>
            <a:endParaRPr b="0" lang="fr-FR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44"/>
          <p:cNvSpPr/>
          <p:nvPr/>
        </p:nvSpPr>
        <p:spPr>
          <a:xfrm>
            <a:off x="230760" y="342000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Compétences mobilisées</a:t>
            </a:r>
            <a:endParaRPr b="0" lang="fr-F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45"/>
          <p:cNvSpPr/>
          <p:nvPr/>
        </p:nvSpPr>
        <p:spPr>
          <a:xfrm>
            <a:off x="457200" y="3867840"/>
            <a:ext cx="255600" cy="200880"/>
          </a:xfrm>
          <a:prstGeom prst="rect">
            <a:avLst/>
          </a:prstGeom>
          <a:solidFill>
            <a:srgbClr val="6366f1"/>
          </a:solidFill>
          <a:ln w="635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46"/>
          <p:cNvSpPr/>
          <p:nvPr/>
        </p:nvSpPr>
        <p:spPr>
          <a:xfrm>
            <a:off x="786240" y="382212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Frontend  </a:t>
            </a:r>
            <a:r>
              <a:rPr b="0" lang="en-US" sz="8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React · Next.js 14 · TypeScript · Tailwind</a:t>
            </a:r>
            <a:endParaRPr b="0" lang="fr-F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47"/>
          <p:cNvSpPr/>
          <p:nvPr/>
        </p:nvSpPr>
        <p:spPr>
          <a:xfrm>
            <a:off x="457200" y="4233600"/>
            <a:ext cx="255600" cy="200880"/>
          </a:xfrm>
          <a:prstGeom prst="rect">
            <a:avLst/>
          </a:prstGeom>
          <a:solidFill>
            <a:srgbClr val="0d9488"/>
          </a:solidFill>
          <a:ln w="635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48"/>
          <p:cNvSpPr/>
          <p:nvPr/>
        </p:nvSpPr>
        <p:spPr>
          <a:xfrm>
            <a:off x="786240" y="418788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Backend  </a:t>
            </a:r>
            <a:r>
              <a:rPr b="0" lang="en-US" sz="8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Supabase · PostgreSQL · RLS · Triggers SQL</a:t>
            </a:r>
            <a:endParaRPr b="0" lang="fr-F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49"/>
          <p:cNvSpPr/>
          <p:nvPr/>
        </p:nvSpPr>
        <p:spPr>
          <a:xfrm>
            <a:off x="4572000" y="3867840"/>
            <a:ext cx="255600" cy="200880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50"/>
          <p:cNvSpPr/>
          <p:nvPr/>
        </p:nvSpPr>
        <p:spPr>
          <a:xfrm>
            <a:off x="4901040" y="382212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DevOps  </a:t>
            </a:r>
            <a:r>
              <a:rPr b="0" lang="en-US" sz="8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Git · GitHub · Vercel CI/CD · Branches</a:t>
            </a:r>
            <a:endParaRPr b="0" lang="fr-F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51"/>
          <p:cNvSpPr/>
          <p:nvPr/>
        </p:nvSpPr>
        <p:spPr>
          <a:xfrm>
            <a:off x="4572000" y="4233600"/>
            <a:ext cx="255600" cy="200880"/>
          </a:xfrm>
          <a:prstGeom prst="rect">
            <a:avLst/>
          </a:prstGeom>
          <a:solidFill>
            <a:srgbClr val="8b5cf6"/>
          </a:solidFill>
          <a:ln w="635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52"/>
          <p:cNvSpPr/>
          <p:nvPr/>
        </p:nvSpPr>
        <p:spPr>
          <a:xfrm>
            <a:off x="4901040" y="418788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Auth  </a:t>
            </a:r>
            <a:r>
              <a:rPr b="0" lang="en-US" sz="8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JWT · Row Level Security · RBAC par rôle</a:t>
            </a:r>
            <a:endParaRPr b="0" lang="fr-F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53"/>
          <p:cNvSpPr/>
          <p:nvPr/>
        </p:nvSpPr>
        <p:spPr>
          <a:xfrm>
            <a:off x="274320" y="482796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Merci pour votre attention  ·  Alim Samira  ·  alim.samira2002@gmail.com  ·  github.com/Alim-Samira</a:t>
            </a:r>
            <a:endParaRPr b="0" lang="fr-FR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682</TotalTime>
  <Application>LibreOffice/25.2.7.2$Windows_X86_64 LibreOffice_project/5cbfd1ab6520636bb5f7b99185aa69bd7456825d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2026-03-08T03:40:36Z</dcterms:created>
  <dc:creator>PptxGenJS</dc:creator>
  <dc:description/>
  <dc:language>fr-FR</dc:language>
  <cp:lastModifiedBy/>
  <dcterms:modified xsi:type="dcterms:W3CDTF">2026-03-08T16:19:37Z</dcterms:modified>
  <cp:revision>2</cp:revision>
  <dc:subject>PptxGenJS Presentation</dc:subject>
  <dc:title>AAAS CRM — Présentation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